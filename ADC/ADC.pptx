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7" r:id="rId3"/>
    <p:sldId id="288" r:id="rId4"/>
    <p:sldId id="275" r:id="rId5"/>
    <p:sldId id="276" r:id="rId6"/>
    <p:sldId id="277" r:id="rId7"/>
    <p:sldId id="279" r:id="rId8"/>
    <p:sldId id="291" r:id="rId9"/>
    <p:sldId id="289" r:id="rId10"/>
    <p:sldId id="283" r:id="rId11"/>
    <p:sldId id="284" r:id="rId12"/>
    <p:sldId id="293" r:id="rId13"/>
    <p:sldId id="292" r:id="rId14"/>
    <p:sldId id="294" r:id="rId15"/>
    <p:sldId id="295" r:id="rId16"/>
    <p:sldId id="28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8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932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3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1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4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8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0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7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6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43131ED-BCD2-40F8-A08D-41FCC6FD02E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9E1ACA-7D6C-414A-892B-CF66B1BB2DD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01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Analog-to-Digital</a:t>
            </a:r>
            <a:br>
              <a:rPr lang="en-US" sz="6000" b="1" dirty="0"/>
            </a:br>
            <a:r>
              <a:rPr lang="en-US" sz="6000" b="1" dirty="0"/>
              <a:t>Converter (ADC) module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h-TH" dirty="0"/>
              <a:t>เรียบเรียงโดย</a:t>
            </a:r>
          </a:p>
          <a:p>
            <a:r>
              <a:rPr lang="th-TH" dirty="0"/>
              <a:t>นายอนุสรณ์ ยอดใจเพ็ชร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484" y="211655"/>
            <a:ext cx="7886700" cy="6973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Helvetica" panose="020B0604020202020204" pitchFamily="34" charset="0"/>
              </a:rPr>
              <a:t>Analog-to-Digital Conversion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579" y="1154293"/>
            <a:ext cx="38968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B300"/>
                </a:solidFill>
                <a:latin typeface="Helvetica" panose="020B0604020202020204" pitchFamily="34" charset="0"/>
              </a:rPr>
              <a:t>Holding the Sampled Value</a:t>
            </a:r>
            <a:endParaRPr lang="th-TH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980" y="4258752"/>
            <a:ext cx="2911731" cy="13653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17" y="3147629"/>
            <a:ext cx="2897025" cy="17654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17" y="5356175"/>
            <a:ext cx="2823497" cy="5358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7340" y="2272260"/>
            <a:ext cx="2794085" cy="1758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711" y="3050774"/>
            <a:ext cx="2930099" cy="2220306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332935" y="4862732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10075" y="470071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46295" y="4855112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3435" y="429685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52035" y="4855112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29175" y="396919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57775" y="4855112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4915" y="396919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144388" y="4862732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21528" y="420541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350128" y="4862732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327268" y="434257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555868" y="4862732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533008" y="421303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762426" y="4860875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739566" y="3784455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1968166" y="4860875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945306" y="3380595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2173906" y="4860875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151046" y="3182475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2360519" y="4868495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337659" y="3182475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2566259" y="4868495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543399" y="3357735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2771999" y="4868495"/>
            <a:ext cx="0" cy="449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749139" y="3746355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3321565" y="3794476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520636" y="3385854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726376" y="3120110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932116" y="3120110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123492" y="3356330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329232" y="3488727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539735" y="3340135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41530" y="2916321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942507" y="2498172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148247" y="2333393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334860" y="2333393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540600" y="2508653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5751103" y="2897273"/>
            <a:ext cx="53340" cy="629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>
            <a:off x="6122865" y="478907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6332415" y="424297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6535615" y="392547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751515" y="399532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954715" y="423662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7170615" y="433822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7380165" y="417947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583365" y="374132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792915" y="334127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8015165" y="315077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8212015" y="315077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8427915" y="333492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612065" y="3741322"/>
            <a:ext cx="2159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153" y="2553855"/>
            <a:ext cx="2132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 Signal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5483" y="5966255"/>
            <a:ext cx="2517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Pulses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90689" y="1817060"/>
            <a:ext cx="2204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Sampled Data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7340" y="2571613"/>
            <a:ext cx="1205232" cy="407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008265" y="4887703"/>
            <a:ext cx="1790999" cy="407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7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4" grpId="0"/>
      <p:bldP spid="65" grpId="0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4207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Helvetica" panose="020B0604020202020204" pitchFamily="34" charset="0"/>
              </a:rPr>
              <a:t>Analog-to-Digital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8031" y="2154356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B300"/>
                </a:solidFill>
                <a:latin typeface="Helvetica" panose="020B0604020202020204" pitchFamily="34" charset="0"/>
              </a:rPr>
              <a:t>Analog-to-Digital Conversion</a:t>
            </a:r>
            <a:endParaRPr lang="th-TH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156" y="3323261"/>
            <a:ext cx="3204055" cy="15469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" y="3005656"/>
            <a:ext cx="2932362" cy="1864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211" y="3710117"/>
            <a:ext cx="627444" cy="7732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504" y="3716641"/>
            <a:ext cx="653588" cy="7666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942" y="3736567"/>
            <a:ext cx="679731" cy="7340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0816" y="4198327"/>
            <a:ext cx="218261" cy="5905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09077" y="3880079"/>
            <a:ext cx="218261" cy="9087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3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243" y="232012"/>
            <a:ext cx="7543800" cy="782018"/>
          </a:xfrm>
        </p:spPr>
        <p:txBody>
          <a:bodyPr/>
          <a:lstStyle/>
          <a:p>
            <a:r>
              <a:rPr lang="en-US" b="1" dirty="0"/>
              <a:t>Analog input model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" y="1178848"/>
            <a:ext cx="8980227" cy="2677258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6" y="4198347"/>
            <a:ext cx="6250675" cy="20668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82188" y="1869743"/>
            <a:ext cx="1119114" cy="586854"/>
          </a:xfrm>
          <a:prstGeom prst="rect">
            <a:avLst/>
          </a:prstGeom>
          <a:solidFill>
            <a:srgbClr val="92D05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14950" y="2531125"/>
            <a:ext cx="395785" cy="586854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2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8243" y="232012"/>
            <a:ext cx="7543800" cy="7820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ADC Transfer Function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73" y="1041325"/>
            <a:ext cx="7600102" cy="5695851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2088107" y="5526092"/>
            <a:ext cx="4228873" cy="12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30628" y="5336274"/>
            <a:ext cx="1981543" cy="368490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097318" y="1514905"/>
            <a:ext cx="1" cy="4012441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 rot="16200000">
            <a:off x="74465" y="3624077"/>
            <a:ext cx="1764144" cy="302637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98422" y="6239654"/>
            <a:ext cx="952958" cy="368490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323078" y="6184442"/>
            <a:ext cx="1007550" cy="368490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5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8243" y="232012"/>
            <a:ext cx="7543800" cy="7820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ADC Transfer Function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73" y="1041325"/>
            <a:ext cx="7600102" cy="5695851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2242102" y="5192202"/>
            <a:ext cx="353999" cy="360552"/>
          </a:xfrm>
          <a:prstGeom prst="straightConnector1">
            <a:avLst/>
          </a:prstGeom>
          <a:ln w="571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099460" y="5196177"/>
            <a:ext cx="3660" cy="352602"/>
          </a:xfrm>
          <a:prstGeom prst="straightConnector1">
            <a:avLst/>
          </a:prstGeom>
          <a:ln w="57150">
            <a:solidFill>
              <a:srgbClr val="00B05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8422" y="6239654"/>
            <a:ext cx="952958" cy="368490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323078" y="6184442"/>
            <a:ext cx="1007550" cy="368490"/>
          </a:xfrm>
          <a:prstGeom prst="rect">
            <a:avLst/>
          </a:prstGeom>
          <a:solidFill>
            <a:srgbClr val="FFC000">
              <a:alpha val="18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16200000">
            <a:off x="1635383" y="5254523"/>
            <a:ext cx="247649" cy="509714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083555" y="5548777"/>
            <a:ext cx="166663" cy="1"/>
          </a:xfrm>
          <a:prstGeom prst="straightConnector1">
            <a:avLst/>
          </a:prstGeom>
          <a:ln w="571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 rot="16200000">
            <a:off x="1641190" y="4937344"/>
            <a:ext cx="247649" cy="509714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554872" y="4880148"/>
            <a:ext cx="353999" cy="360552"/>
          </a:xfrm>
          <a:prstGeom prst="straightConnector1">
            <a:avLst/>
          </a:prstGeom>
          <a:ln w="571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099459" y="4883750"/>
            <a:ext cx="3660" cy="352602"/>
          </a:xfrm>
          <a:prstGeom prst="straightConnector1">
            <a:avLst/>
          </a:prstGeom>
          <a:ln w="57150">
            <a:solidFill>
              <a:srgbClr val="00B05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16200000">
            <a:off x="1641190" y="4620164"/>
            <a:ext cx="247649" cy="509714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2881039" y="4569450"/>
            <a:ext cx="353999" cy="360552"/>
          </a:xfrm>
          <a:prstGeom prst="straightConnector1">
            <a:avLst/>
          </a:prstGeom>
          <a:ln w="571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2103750" y="4584493"/>
            <a:ext cx="3660" cy="352602"/>
          </a:xfrm>
          <a:prstGeom prst="straightConnector1">
            <a:avLst/>
          </a:prstGeom>
          <a:ln w="57150">
            <a:solidFill>
              <a:srgbClr val="00B05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 rot="16200000">
            <a:off x="1641191" y="4300434"/>
            <a:ext cx="247649" cy="509714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3192466" y="4260381"/>
            <a:ext cx="353999" cy="360552"/>
          </a:xfrm>
          <a:prstGeom prst="straightConnector1">
            <a:avLst/>
          </a:prstGeom>
          <a:ln w="571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2105580" y="4260381"/>
            <a:ext cx="3660" cy="352602"/>
          </a:xfrm>
          <a:prstGeom prst="straightConnector1">
            <a:avLst/>
          </a:prstGeom>
          <a:ln w="57150">
            <a:solidFill>
              <a:srgbClr val="00B05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 rot="16200000">
            <a:off x="1635384" y="3983254"/>
            <a:ext cx="247649" cy="509714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ular Callout 32"/>
          <p:cNvSpPr/>
          <p:nvPr/>
        </p:nvSpPr>
        <p:spPr>
          <a:xfrm>
            <a:off x="161043" y="1163111"/>
            <a:ext cx="914400" cy="612648"/>
          </a:xfrm>
          <a:prstGeom prst="wedgeRectCallout">
            <a:avLst>
              <a:gd name="adj1" fmla="val 110510"/>
              <a:gd name="adj2" fmla="val 80321"/>
            </a:avLst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 bits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3538845" y="2144138"/>
            <a:ext cx="2298075" cy="2132774"/>
          </a:xfrm>
          <a:prstGeom prst="straightConnector1">
            <a:avLst/>
          </a:prstGeom>
          <a:ln w="5715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101738" y="2144138"/>
            <a:ext cx="5341" cy="2146449"/>
          </a:xfrm>
          <a:prstGeom prst="straightConnector1">
            <a:avLst/>
          </a:prstGeom>
          <a:ln w="57150">
            <a:solidFill>
              <a:srgbClr val="00B05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 rot="16200000">
            <a:off x="1635384" y="1880669"/>
            <a:ext cx="247649" cy="509714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46628" y="5263873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0</a:t>
            </a:r>
            <a:r>
              <a:rPr lang="en-US" b="1" baseline="-25000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990" y="1959472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1023</a:t>
            </a:r>
            <a:r>
              <a:rPr lang="en-US" b="1" baseline="-25000" dirty="0">
                <a:solidFill>
                  <a:srgbClr val="00B050"/>
                </a:solidFill>
              </a:rPr>
              <a:t>10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376018" y="2430403"/>
            <a:ext cx="0" cy="27395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9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5" grpId="0" animBg="1"/>
      <p:bldP spid="28" grpId="0" animBg="1"/>
      <p:bldP spid="31" grpId="0" animBg="1"/>
      <p:bldP spid="33" grpId="0" animBg="1"/>
      <p:bldP spid="36" grpId="0" animBg="1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61913"/>
            <a:ext cx="7543800" cy="772939"/>
          </a:xfrm>
        </p:spPr>
        <p:txBody>
          <a:bodyPr>
            <a:normAutofit/>
          </a:bodyPr>
          <a:lstStyle/>
          <a:p>
            <a:r>
              <a:rPr lang="th-TH" sz="3200" dirty="0"/>
              <a:t>ตัวอย่างที่ 1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094" y="2018255"/>
            <a:ext cx="5133568" cy="4233527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65546" y="934852"/>
            <a:ext cx="8258628" cy="1100667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จากรูปวงจรจงแปลงแรงดันที่เข้าขา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AN1 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เป็นข้อมูลดิจิตอล ขนาด 8 บิต และแสดงค่าแรงดันที่วัดได้ออกทาง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PORTB 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ในรูปแบบเลขฐานสอง</a:t>
            </a:r>
            <a:endParaRPr lang="en-US" sz="3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0295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/>
          <p:cNvCxnSpPr/>
          <p:nvPr/>
        </p:nvCxnSpPr>
        <p:spPr>
          <a:xfrm>
            <a:off x="3659827" y="1697870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305714" y="1894835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กำหนด </a:t>
            </a:r>
            <a:r>
              <a:rPr lang="en-US" dirty="0">
                <a:solidFill>
                  <a:schemeClr val="tx1"/>
                </a:solidFill>
              </a:rPr>
              <a:t>PORTB </a:t>
            </a:r>
            <a:r>
              <a:rPr lang="th-TH" dirty="0">
                <a:solidFill>
                  <a:schemeClr val="tx1"/>
                </a:solidFill>
              </a:rPr>
              <a:t>เป็น </a:t>
            </a:r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04545" y="185480"/>
            <a:ext cx="965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ข้อที่ 1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sz="3200" dirty="0"/>
          </a:p>
        </p:txBody>
      </p:sp>
      <p:sp>
        <p:nvSpPr>
          <p:cNvPr id="55" name="Flowchart: Terminator 54"/>
          <p:cNvSpPr/>
          <p:nvPr/>
        </p:nvSpPr>
        <p:spPr>
          <a:xfrm>
            <a:off x="3072348" y="1220198"/>
            <a:ext cx="1204889" cy="471055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5714" y="2562855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กำหนด </a:t>
            </a:r>
            <a:r>
              <a:rPr lang="en-US" dirty="0">
                <a:solidFill>
                  <a:schemeClr val="tx1"/>
                </a:solidFill>
              </a:rPr>
              <a:t>AN1 </a:t>
            </a:r>
            <a:r>
              <a:rPr lang="th-TH" dirty="0">
                <a:solidFill>
                  <a:schemeClr val="tx1"/>
                </a:solidFill>
              </a:rPr>
              <a:t>เป็น อินพุตอนะล๊อค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659827" y="2372507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305714" y="3230875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ADCON0bits.GO_DONE = 1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3659827" y="3040527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641190" y="3708547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owchart: Decision 53"/>
          <p:cNvSpPr/>
          <p:nvPr/>
        </p:nvSpPr>
        <p:spPr>
          <a:xfrm>
            <a:off x="2492943" y="3898895"/>
            <a:ext cx="2333767" cy="1241946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ADCON0bits.GO_DONE == 1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1856033" y="4549968"/>
            <a:ext cx="636910" cy="41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083602" y="4170234"/>
            <a:ext cx="48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4079" y="418063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1856033" y="3761407"/>
            <a:ext cx="0" cy="78856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1926866" y="3802971"/>
            <a:ext cx="1714324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575418" y="4311132"/>
            <a:ext cx="2022151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PORTB = ADRESH 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4884405" y="4537726"/>
            <a:ext cx="633318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575418" y="5022057"/>
            <a:ext cx="2022151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Delay 100 </a:t>
            </a:r>
            <a:r>
              <a:rPr lang="en-US" dirty="0" err="1">
                <a:solidFill>
                  <a:schemeClr val="tx1"/>
                </a:solidFill>
              </a:rPr>
              <a:t>ms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6590164" y="4831709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7597569" y="5251879"/>
            <a:ext cx="753424" cy="901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8350993" y="3230875"/>
            <a:ext cx="0" cy="190996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 flipV="1">
            <a:off x="3970731" y="3135701"/>
            <a:ext cx="4380262" cy="190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75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122" y="616198"/>
            <a:ext cx="7543801" cy="624180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xc.h</a:t>
            </a:r>
            <a:r>
              <a:rPr lang="en-US" dirty="0"/>
              <a:t>&gt;</a:t>
            </a:r>
          </a:p>
          <a:p>
            <a:r>
              <a:rPr lang="en-US" dirty="0"/>
              <a:t>#define _XTAL_FREQ 20000000</a:t>
            </a:r>
          </a:p>
          <a:p>
            <a:r>
              <a:rPr lang="en-US" dirty="0"/>
              <a:t>#pragma </a:t>
            </a:r>
            <a:r>
              <a:rPr lang="en-US" dirty="0" err="1"/>
              <a:t>config</a:t>
            </a:r>
            <a:r>
              <a:rPr lang="en-US" dirty="0"/>
              <a:t> FOSC = HS, WDTE = OFF, LVP = OFF</a:t>
            </a:r>
          </a:p>
          <a:p>
            <a:r>
              <a:rPr lang="en-US" dirty="0"/>
              <a:t>void main(void)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    ANSEL = 0b00000010;</a:t>
            </a:r>
          </a:p>
          <a:p>
            <a:r>
              <a:rPr lang="en-US" dirty="0"/>
              <a:t>    ANSELH = 0x00;</a:t>
            </a:r>
          </a:p>
          <a:p>
            <a:r>
              <a:rPr lang="en-US" dirty="0"/>
              <a:t>    TRISB = 0x00;  </a:t>
            </a:r>
          </a:p>
          <a:p>
            <a:r>
              <a:rPr lang="en-US" dirty="0"/>
              <a:t>    PORTB = 0x00;</a:t>
            </a:r>
          </a:p>
          <a:p>
            <a:r>
              <a:rPr lang="en-US" dirty="0"/>
              <a:t>    INTCON = 0; </a:t>
            </a:r>
          </a:p>
          <a:p>
            <a:r>
              <a:rPr lang="en-US" dirty="0"/>
              <a:t>    ADCON0 = 0b11000001; </a:t>
            </a:r>
          </a:p>
          <a:p>
            <a:r>
              <a:rPr lang="en-US" dirty="0"/>
              <a:t>    ADCON1 = 0x00;</a:t>
            </a:r>
          </a:p>
          <a:p>
            <a:r>
              <a:rPr lang="en-US" dirty="0"/>
              <a:t>    ADCON0bits.CHS = 1;</a:t>
            </a:r>
          </a:p>
          <a:p>
            <a:r>
              <a:rPr lang="en-US" dirty="0"/>
              <a:t>    while (1)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ADCON0bits.GO_DONE = 1;</a:t>
            </a:r>
          </a:p>
          <a:p>
            <a:r>
              <a:rPr lang="th-TH" dirty="0"/>
              <a:t>           </a:t>
            </a:r>
            <a:r>
              <a:rPr lang="en-US" dirty="0"/>
              <a:t>while (ADCON0bits.GO_DONE);</a:t>
            </a:r>
          </a:p>
          <a:p>
            <a:r>
              <a:rPr lang="en-US" dirty="0"/>
              <a:t>        PORTB = ADRESH;  </a:t>
            </a:r>
          </a:p>
          <a:p>
            <a:r>
              <a:rPr lang="en-US" dirty="0"/>
              <a:t>        __</a:t>
            </a:r>
            <a:r>
              <a:rPr lang="en-US" dirty="0" err="1"/>
              <a:t>delay_ms</a:t>
            </a:r>
            <a:r>
              <a:rPr lang="en-US" dirty="0"/>
              <a:t>(100);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09105" y="96982"/>
            <a:ext cx="7543800" cy="519216"/>
          </a:xfrm>
        </p:spPr>
        <p:txBody>
          <a:bodyPr>
            <a:normAutofit/>
          </a:bodyPr>
          <a:lstStyle/>
          <a:p>
            <a:r>
              <a:rPr lang="th-TH" sz="3200" dirty="0"/>
              <a:t>ตัวอย่างที่ 1 (โปรแกรม)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8123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943" y="71940"/>
            <a:ext cx="7543800" cy="671339"/>
          </a:xfrm>
        </p:spPr>
        <p:txBody>
          <a:bodyPr>
            <a:normAutofit/>
          </a:bodyPr>
          <a:lstStyle/>
          <a:p>
            <a:r>
              <a:rPr lang="th-TH" sz="3200" dirty="0"/>
              <a:t>แบบฝึกหัดที่ </a:t>
            </a:r>
            <a:r>
              <a:rPr lang="en-US" sz="3200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943" y="650461"/>
            <a:ext cx="8258628" cy="1100667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จากวงจรการทดลองโมดูล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ADC 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วงจรที่ 1 จงเขียนโปรแกรมแสดงระดับแรงดันที่เข้าขา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AN2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 ตามเงื่อนไขในตารางดังต่อไปนี้</a:t>
            </a:r>
            <a:endParaRPr lang="en-US" sz="3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956189"/>
              </p:ext>
            </p:extLst>
          </p:nvPr>
        </p:nvGraphicFramePr>
        <p:xfrm>
          <a:off x="449943" y="1751128"/>
          <a:ext cx="8069951" cy="44370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3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th-TH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แรงดัน</a:t>
                      </a:r>
                      <a:r>
                        <a:rPr lang="th-TH" sz="2800" b="1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(</a:t>
                      </a:r>
                      <a:r>
                        <a:rPr lang="en-US" sz="2800" b="1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V</a:t>
                      </a:r>
                      <a:r>
                        <a:rPr lang="th-TH" sz="2800" b="1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)</a:t>
                      </a:r>
                      <a:endParaRPr lang="en-US" sz="2800" b="1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0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0.55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0.55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1.1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1.1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1.6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1.6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2.2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2.2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2.7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2.7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3.3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3.3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3.8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3.8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4.4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Off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4.4 </a:t>
                      </a:r>
                      <a:r>
                        <a:rPr lang="th-TH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ถึง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&lt;</a:t>
                      </a:r>
                      <a:r>
                        <a:rPr lang="th-TH" baseline="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  <a:endParaRPr lang="en-US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099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943" y="231595"/>
            <a:ext cx="7543800" cy="671339"/>
          </a:xfrm>
        </p:spPr>
        <p:txBody>
          <a:bodyPr>
            <a:normAutofit fontScale="90000"/>
          </a:bodyPr>
          <a:lstStyle/>
          <a:p>
            <a:r>
              <a:rPr lang="th-TH" dirty="0"/>
              <a:t>ตัวอย่างที่ </a:t>
            </a:r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943" y="810116"/>
            <a:ext cx="8258628" cy="1100667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จากวงจรการทดลองโมดูล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ADC 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จงเขียนโปรแกรมแสดงระดับแรงดันที่เข้าขา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AN1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 ออกทาง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Serial port 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เป็นค่าระหว่าง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000 – 255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50" y="2064327"/>
            <a:ext cx="8385421" cy="300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92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2952156" y="2096557"/>
            <a:ext cx="2163172" cy="4776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กำหนดค่า </a:t>
            </a:r>
            <a:r>
              <a:rPr lang="en-US" dirty="0" err="1">
                <a:solidFill>
                  <a:schemeClr val="tx1"/>
                </a:solidFill>
              </a:rPr>
              <a:t>Buad</a:t>
            </a:r>
            <a:r>
              <a:rPr lang="en-US" dirty="0">
                <a:solidFill>
                  <a:schemeClr val="tx1"/>
                </a:solidFill>
              </a:rPr>
              <a:t>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04545" y="185480"/>
            <a:ext cx="965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ข้อที่ 2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sz="3200" dirty="0"/>
          </a:p>
        </p:txBody>
      </p:sp>
      <p:sp>
        <p:nvSpPr>
          <p:cNvPr id="55" name="Flowchart: Terminator 54"/>
          <p:cNvSpPr/>
          <p:nvPr/>
        </p:nvSpPr>
        <p:spPr>
          <a:xfrm>
            <a:off x="3402100" y="1392047"/>
            <a:ext cx="1204889" cy="47105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9069" y="2799986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กำหนด </a:t>
            </a:r>
            <a:r>
              <a:rPr lang="en-US" dirty="0">
                <a:solidFill>
                  <a:schemeClr val="tx1"/>
                </a:solidFill>
              </a:rPr>
              <a:t>AN1 </a:t>
            </a:r>
            <a:r>
              <a:rPr lang="th-TH" dirty="0">
                <a:solidFill>
                  <a:schemeClr val="tx1"/>
                </a:solidFill>
              </a:rPr>
              <a:t>เป็น อินพุตอนะล๊อค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4023182" y="2609638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669069" y="3468006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ADCON0bits.GO_DONE = 1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023182" y="3277658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004545" y="3945678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Decision 46"/>
          <p:cNvSpPr/>
          <p:nvPr/>
        </p:nvSpPr>
        <p:spPr>
          <a:xfrm>
            <a:off x="2856298" y="4136026"/>
            <a:ext cx="2333767" cy="1241946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ADCON0bits.GO_DONE == 1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2219388" y="4787099"/>
            <a:ext cx="636910" cy="41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446957" y="4407365"/>
            <a:ext cx="48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37434" y="441776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2219388" y="3998538"/>
            <a:ext cx="0" cy="78856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2290221" y="4040102"/>
            <a:ext cx="1714324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5247760" y="4774857"/>
            <a:ext cx="927335" cy="1224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4334086" y="3364992"/>
            <a:ext cx="1938545" cy="78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4004545" y="1906209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346848" y="4541786"/>
            <a:ext cx="485002" cy="4906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6341033" y="3127519"/>
            <a:ext cx="485002" cy="4906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2071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/>
          <p:cNvCxnSpPr/>
          <p:nvPr/>
        </p:nvCxnSpPr>
        <p:spPr>
          <a:xfrm>
            <a:off x="2826338" y="1686839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6928" y="1900488"/>
            <a:ext cx="4059936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TXREG = (ADRESH/100) + 48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04545" y="185480"/>
            <a:ext cx="965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ข้อที่ 2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sz="3200" dirty="0"/>
          </a:p>
        </p:txBody>
      </p:sp>
      <p:sp>
        <p:nvSpPr>
          <p:cNvPr id="28" name="Rectangle 27"/>
          <p:cNvSpPr/>
          <p:nvPr/>
        </p:nvSpPr>
        <p:spPr>
          <a:xfrm>
            <a:off x="1472224" y="2537810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delay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826337" y="2347462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826337" y="3015482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83836" y="1209167"/>
            <a:ext cx="485002" cy="4906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928" y="3205830"/>
            <a:ext cx="4059936" cy="720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ADRESH = ADRESH - (ADRESH/100)*100</a:t>
            </a:r>
          </a:p>
          <a:p>
            <a:pPr algn="ctr"/>
            <a:r>
              <a:rPr lang="da-DK" dirty="0">
                <a:solidFill>
                  <a:schemeClr val="tx1"/>
                </a:solidFill>
              </a:rPr>
              <a:t>        TXREG = (ADRESH/10) + 48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472224" y="4116806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delay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826337" y="3926458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826338" y="4605995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95289" y="4784826"/>
            <a:ext cx="4059936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ADRESH = ADRESH - (ADRESH/10)*10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72224" y="5456966"/>
            <a:ext cx="2729345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delay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826337" y="5266618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56923" y="1638351"/>
            <a:ext cx="2068178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new line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7092694" y="1436279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4201569" y="5710132"/>
            <a:ext cx="1394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596128" y="1454480"/>
            <a:ext cx="0" cy="42395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596128" y="1454480"/>
            <a:ext cx="14948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056923" y="2344911"/>
            <a:ext cx="2068178" cy="477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delay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131425" y="2154563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31425" y="2825134"/>
            <a:ext cx="0" cy="1903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886273" y="3018513"/>
            <a:ext cx="485002" cy="4906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1765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9714" y="302359"/>
            <a:ext cx="45720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#include &lt;</a:t>
            </a:r>
            <a:r>
              <a:rPr lang="en-US" sz="1400" dirty="0" err="1"/>
              <a:t>xc.h</a:t>
            </a:r>
            <a:r>
              <a:rPr lang="en-US" sz="1400" dirty="0"/>
              <a:t>&gt;</a:t>
            </a:r>
          </a:p>
          <a:p>
            <a:r>
              <a:rPr lang="en-US" sz="1400" dirty="0"/>
              <a:t>#define _XTAL_FREQ 20000000</a:t>
            </a:r>
          </a:p>
          <a:p>
            <a:r>
              <a:rPr lang="en-US" sz="1400" dirty="0"/>
              <a:t>#pragma </a:t>
            </a:r>
            <a:r>
              <a:rPr lang="en-US" sz="1400" dirty="0" err="1"/>
              <a:t>config</a:t>
            </a:r>
            <a:r>
              <a:rPr lang="en-US" sz="1400" dirty="0"/>
              <a:t> FOSC = HS, WDTE = OFF, LVP = OFF</a:t>
            </a:r>
          </a:p>
          <a:p>
            <a:endParaRPr lang="en-US" sz="1400" dirty="0"/>
          </a:p>
          <a:p>
            <a:r>
              <a:rPr lang="en-US" sz="1400" dirty="0"/>
              <a:t>void main(void)</a:t>
            </a:r>
          </a:p>
          <a:p>
            <a:r>
              <a:rPr lang="en-US" sz="1400" dirty="0"/>
              <a:t>{  </a:t>
            </a:r>
          </a:p>
          <a:p>
            <a:r>
              <a:rPr lang="en-US" sz="1400" dirty="0"/>
              <a:t>	ANSEL = 0b00000010;</a:t>
            </a:r>
          </a:p>
          <a:p>
            <a:r>
              <a:rPr lang="en-US" sz="1400" dirty="0"/>
              <a:t>    ANSELH = 0x00;</a:t>
            </a:r>
          </a:p>
          <a:p>
            <a:r>
              <a:rPr lang="en-US" sz="1400" dirty="0"/>
              <a:t>    TRISB = 0x00;  </a:t>
            </a:r>
          </a:p>
          <a:p>
            <a:r>
              <a:rPr lang="en-US" sz="1400" dirty="0"/>
              <a:t>    PORTB = 0x00;</a:t>
            </a:r>
          </a:p>
          <a:p>
            <a:r>
              <a:rPr lang="en-US" sz="1400" dirty="0"/>
              <a:t>    TRISC = 0b10000000;</a:t>
            </a:r>
          </a:p>
          <a:p>
            <a:r>
              <a:rPr lang="en-US" sz="1400" dirty="0"/>
              <a:t>    PORTC = 0x00;</a:t>
            </a:r>
          </a:p>
          <a:p>
            <a:r>
              <a:rPr lang="en-US" sz="1400" dirty="0"/>
              <a:t>    </a:t>
            </a:r>
          </a:p>
          <a:p>
            <a:r>
              <a:rPr lang="en-US" sz="1400" dirty="0"/>
              <a:t>    // USART module setting.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TXSTAbits.SYNC</a:t>
            </a:r>
            <a:r>
              <a:rPr lang="en-US" sz="1400" dirty="0"/>
              <a:t> = 0;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TXSTAbits.BRGH</a:t>
            </a:r>
            <a:r>
              <a:rPr lang="en-US" sz="1400" dirty="0"/>
              <a:t> = 0;  </a:t>
            </a:r>
          </a:p>
          <a:p>
            <a:r>
              <a:rPr lang="en-US" sz="1400" dirty="0"/>
              <a:t>    BAUDCTLbits.BRG16 = 1;      </a:t>
            </a:r>
          </a:p>
          <a:p>
            <a:r>
              <a:rPr lang="en-US" sz="1400" dirty="0"/>
              <a:t>    // Baud rate = 9600 bps</a:t>
            </a:r>
          </a:p>
          <a:p>
            <a:r>
              <a:rPr lang="en-US" sz="1400" dirty="0"/>
              <a:t>    SPBRGH = 0x00;</a:t>
            </a:r>
          </a:p>
          <a:p>
            <a:r>
              <a:rPr lang="en-US" sz="1400" dirty="0"/>
              <a:t>    SPBRG = 0x81;     </a:t>
            </a:r>
          </a:p>
          <a:p>
            <a:r>
              <a:rPr lang="en-US" sz="1400" dirty="0"/>
              <a:t>    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RCSTAbits.SPEN</a:t>
            </a:r>
            <a:r>
              <a:rPr lang="en-US" sz="1400" dirty="0"/>
              <a:t> = 1;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RCSTAbits.CREN</a:t>
            </a:r>
            <a:r>
              <a:rPr lang="en-US" sz="1400" dirty="0"/>
              <a:t> = 1;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TXSTAbits.TXEN</a:t>
            </a:r>
            <a:r>
              <a:rPr lang="en-US" sz="1400" dirty="0"/>
              <a:t> = 1;    </a:t>
            </a:r>
          </a:p>
          <a:p>
            <a:r>
              <a:rPr lang="en-US" sz="1400" dirty="0"/>
              <a:t>    </a:t>
            </a:r>
          </a:p>
          <a:p>
            <a:r>
              <a:rPr lang="en-US" sz="1400" dirty="0"/>
              <a:t>    // ADC Module setting.</a:t>
            </a:r>
          </a:p>
          <a:p>
            <a:r>
              <a:rPr lang="en-US" sz="1400" dirty="0"/>
              <a:t>    INTCON = 0; </a:t>
            </a:r>
          </a:p>
          <a:p>
            <a:r>
              <a:rPr lang="en-US" sz="1400" dirty="0"/>
              <a:t>    ADCON0 = 0b11000001; </a:t>
            </a:r>
          </a:p>
          <a:p>
            <a:r>
              <a:rPr lang="en-US" sz="1400" dirty="0"/>
              <a:t>    ADCON1 = 0x00;</a:t>
            </a:r>
          </a:p>
          <a:p>
            <a:r>
              <a:rPr lang="en-US" sz="1400" dirty="0"/>
              <a:t>    ADCON0bits.CHS = 1;</a:t>
            </a:r>
          </a:p>
        </p:txBody>
      </p:sp>
    </p:spTree>
    <p:extLst>
      <p:ext uri="{BB962C8B-B14F-4D97-AF65-F5344CB8AC3E}">
        <p14:creationId xmlns:p14="http://schemas.microsoft.com/office/powerpoint/2010/main" val="4227313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7300" y="336778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dirty="0"/>
              <a:t>    while (1)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ADCON0bits.GO_DONE = 1;</a:t>
            </a:r>
          </a:p>
          <a:p>
            <a:r>
              <a:rPr lang="en-US" dirty="0"/>
              <a:t>        while (ADCON0bits.GO_DONE);</a:t>
            </a:r>
          </a:p>
          <a:p>
            <a:r>
              <a:rPr lang="en-US" dirty="0"/>
              <a:t>              </a:t>
            </a:r>
          </a:p>
          <a:p>
            <a:r>
              <a:rPr lang="en-US" dirty="0"/>
              <a:t>        TXREG = (ADRESH/100) + 48;</a:t>
            </a:r>
          </a:p>
          <a:p>
            <a:r>
              <a:rPr lang="en-US" dirty="0"/>
              <a:t>        while(!TRMT);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ADRESH = ADRESH - (ADRESH/100)*100;</a:t>
            </a:r>
          </a:p>
          <a:p>
            <a:r>
              <a:rPr lang="en-US" dirty="0"/>
              <a:t>        TXREG = (ADRESH/10) + 48;</a:t>
            </a:r>
          </a:p>
          <a:p>
            <a:r>
              <a:rPr lang="en-US" dirty="0"/>
              <a:t>        while(!TRMT);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ADRESH = ADRESH - (ADRESH/10)*10;</a:t>
            </a:r>
          </a:p>
          <a:p>
            <a:r>
              <a:rPr lang="en-US" dirty="0"/>
              <a:t>        TXREG = ADRESH + 48;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Print new line.</a:t>
            </a:r>
          </a:p>
          <a:p>
            <a:r>
              <a:rPr lang="en-US" dirty="0"/>
              <a:t>        TXREG = 0x0D;   while(!TRMT);</a:t>
            </a:r>
          </a:p>
          <a:p>
            <a:r>
              <a:rPr lang="en-US" dirty="0"/>
              <a:t>        TXREG = 0x0A;   while(!TRMT);</a:t>
            </a:r>
          </a:p>
          <a:p>
            <a:r>
              <a:rPr lang="en-US" dirty="0"/>
              <a:t>        __</a:t>
            </a:r>
            <a:r>
              <a:rPr lang="en-US" dirty="0" err="1"/>
              <a:t>delay_ms</a:t>
            </a:r>
            <a:r>
              <a:rPr lang="en-US" dirty="0"/>
              <a:t>(100);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601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943" y="231595"/>
            <a:ext cx="7543800" cy="671339"/>
          </a:xfrm>
        </p:spPr>
        <p:txBody>
          <a:bodyPr>
            <a:normAutofit fontScale="90000"/>
          </a:bodyPr>
          <a:lstStyle/>
          <a:p>
            <a:r>
              <a:rPr lang="th-TH" dirty="0"/>
              <a:t>แบบฝึกหัดที่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943" y="810116"/>
            <a:ext cx="8258628" cy="1100667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จากวงจรการทดลองโมดูล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ADC 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จงเขียนโปรแกรมแสดงระดับแรงดันที่เข้าขา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AN2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 ออกทาง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Serial port </a:t>
            </a:r>
            <a:r>
              <a:rPr lang="th-TH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เป็นค่าระหว่าง </a:t>
            </a:r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0 Volt – 5 Volt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50" y="2092036"/>
            <a:ext cx="8385421" cy="300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439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4018</TotalTime>
  <Words>806</Words>
  <Application>Microsoft Office PowerPoint</Application>
  <PresentationFormat>On-screen Show (4:3)</PresentationFormat>
  <Paragraphs>220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Angsana New</vt:lpstr>
      <vt:lpstr>AngsanaUPC</vt:lpstr>
      <vt:lpstr>Calibri</vt:lpstr>
      <vt:lpstr>Calibri Light</vt:lpstr>
      <vt:lpstr>Helvetica</vt:lpstr>
      <vt:lpstr>Retrospect</vt:lpstr>
      <vt:lpstr>Analog-to-Digital Converter (ADC) module</vt:lpstr>
      <vt:lpstr>Analog-to-Digital Conversion</vt:lpstr>
      <vt:lpstr>Analog-to-Digital Conversion</vt:lpstr>
      <vt:lpstr>Analog input model</vt:lpstr>
      <vt:lpstr>PowerPoint Presentation</vt:lpstr>
      <vt:lpstr>PowerPoint Presentation</vt:lpstr>
      <vt:lpstr>ตัวอย่างที่ 1</vt:lpstr>
      <vt:lpstr>PowerPoint Presentation</vt:lpstr>
      <vt:lpstr>ตัวอย่างที่ 1 (โปรแกรม)</vt:lpstr>
      <vt:lpstr>แบบฝึกหัดที่ 1</vt:lpstr>
      <vt:lpstr>ตัวอย่างที่ 2</vt:lpstr>
      <vt:lpstr>PowerPoint Presentation</vt:lpstr>
      <vt:lpstr>PowerPoint Presentation</vt:lpstr>
      <vt:lpstr>PowerPoint Presentation</vt:lpstr>
      <vt:lpstr>PowerPoint Presentation</vt:lpstr>
      <vt:lpstr>แบบฝึกหัดที่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Analog-to-Digital Converter (ADC) module</dc:title>
  <dc:creator>อนุสรณ์   ยอดใจเพ็ชร</dc:creator>
  <cp:lastModifiedBy>Anusorn Yodjiphet</cp:lastModifiedBy>
  <cp:revision>48</cp:revision>
  <dcterms:created xsi:type="dcterms:W3CDTF">2018-09-18T14:50:47Z</dcterms:created>
  <dcterms:modified xsi:type="dcterms:W3CDTF">2026-06-23T07:09:54Z</dcterms:modified>
</cp:coreProperties>
</file>